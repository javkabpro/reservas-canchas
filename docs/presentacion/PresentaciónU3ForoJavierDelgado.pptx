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4" r:id="rId3"/>
    <p:sldId id="285" r:id="rId4"/>
    <p:sldId id="286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9" r:id="rId18"/>
    <p:sldId id="271" r:id="rId19"/>
    <p:sldId id="272" r:id="rId20"/>
    <p:sldId id="268" r:id="rId21"/>
    <p:sldId id="270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7" r:id="rId3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0BEDBA-6A91-24C8-446F-1B63FCEC8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E4775E-6AD6-EE2E-2FFD-FDD12E8C7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0322AB-E692-384C-7ADF-7BE84D52B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9687-9173-4540-ADE4-0026EB472590}" type="datetimeFigureOut">
              <a:rPr lang="es-CO" smtClean="0"/>
              <a:t>15/04/2026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77D50A-BC1B-4EF2-A902-07487D136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46B9DF-4990-9223-CEFF-30E545CED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66B4A-B727-452D-AA60-F81671CC507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55680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63A535-7C08-9504-8216-44AC864CB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6E2075-9B8F-D700-6753-602B356D8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C1B6A9-6C03-B92B-81CA-A8B1CFD19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9687-9173-4540-ADE4-0026EB472590}" type="datetimeFigureOut">
              <a:rPr lang="es-CO" smtClean="0"/>
              <a:t>15/04/2026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ACD8A8-A3FA-75CC-C54F-E4A3610A6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55A165-09E9-2D9B-DD85-EEE42B0FD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66B4A-B727-452D-AA60-F81671CC507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9097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2DB167-14A5-45F0-97BD-0D85C1E77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5E6757-5125-DA4F-4000-EF4418453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174838-06EC-22BC-35BE-69594F3E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9687-9173-4540-ADE4-0026EB472590}" type="datetimeFigureOut">
              <a:rPr lang="es-CO" smtClean="0"/>
              <a:t>15/04/2026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50771E-097A-C75C-5758-E8BD9878E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B8F203-043F-1D6D-798F-0D14E9E8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66B4A-B727-452D-AA60-F81671CC507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23863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5CC153-2332-4CD5-6925-F985A9F24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8200DC-0C7D-DECC-1F94-4AD0E8EDC6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90BF64E-44DD-4C57-5BA7-49B778AD0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164681-1B3F-7496-4A44-A01390DB0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9687-9173-4540-ADE4-0026EB472590}" type="datetimeFigureOut">
              <a:rPr lang="es-CO" smtClean="0"/>
              <a:t>15/04/2026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0868F5C-F907-EB91-CD72-6B4543471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D85965A-C9C3-34E1-EBE9-399C31BE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66B4A-B727-452D-AA60-F81671CC507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80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79255-E939-0B45-3828-EF5A3FA34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9186ACC-5ACB-E925-26B7-AF1A25E5A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F66A456-A8E7-CE97-BBE5-4693C3B9A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90F4DB1-4E3C-668D-8E3B-82FA4FCB0C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DA62C22-4B01-1B38-FE4C-12E5008866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7C4D789-72C0-0FE4-5811-466A57B04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9687-9173-4540-ADE4-0026EB472590}" type="datetimeFigureOut">
              <a:rPr lang="es-CO" smtClean="0"/>
              <a:t>15/04/2026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17644BD-ECC0-2808-22F9-338E992CC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D79D047-8236-0F26-193C-BE8B6D33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66B4A-B727-452D-AA60-F81671CC507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34246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2DE215-4989-A12C-146A-8A2DACF54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A2FEF9C-032D-86DB-D687-95724D5CD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9687-9173-4540-ADE4-0026EB472590}" type="datetimeFigureOut">
              <a:rPr lang="es-CO" smtClean="0"/>
              <a:t>15/04/2026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53C2E1-5A50-0211-2E3F-716C3D970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DA0608A-34FD-E099-155C-ECEDB588C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66B4A-B727-452D-AA60-F81671CC507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3653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E0C7847-0D37-44AE-097C-BC7F58AD4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9687-9173-4540-ADE4-0026EB472590}" type="datetimeFigureOut">
              <a:rPr lang="es-CO" smtClean="0"/>
              <a:t>15/04/2026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048E290-AED7-46EC-7F08-829EFC8BD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D5F6961-5ABB-3F01-0DE7-C4E2B3E1A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66B4A-B727-452D-AA60-F81671CC507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3209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69F0D9-1C11-736A-8E14-B6742232B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54F3C2-A7E1-3510-0CC7-42372C28B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90D5A03-45A0-00B9-64AE-AF5915BF02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95C855-9CB5-2561-4E22-19AFC6F02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9687-9173-4540-ADE4-0026EB472590}" type="datetimeFigureOut">
              <a:rPr lang="es-CO" smtClean="0"/>
              <a:t>15/04/2026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9E85600-8B0A-99FA-495D-1A88531A6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6B8219-52B6-4EBD-3A6D-6B575DA59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66B4A-B727-452D-AA60-F81671CC507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8086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D35735-DB4A-BBFD-DF0E-EF86527D3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0FFDF6D-4C83-DEAD-5488-121961DC05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DCB249F-4973-EF20-D055-E36AC82B4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0A31B5-4AD6-05FD-3635-95B7BB6F7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9687-9173-4540-ADE4-0026EB472590}" type="datetimeFigureOut">
              <a:rPr lang="es-CO" smtClean="0"/>
              <a:t>15/04/2026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9A11C0-EBFD-6DD7-06DA-D4EA54A0C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1CF482-BA87-37B0-A5D8-626BBEB0A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66B4A-B727-452D-AA60-F81671CC507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06667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B69D4F-8640-D2AE-560B-193C50D67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2FDAA8E-058A-4B8E-1DD7-12427CA508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94C89A-983E-3783-49C2-ED27F072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9687-9173-4540-ADE4-0026EB472590}" type="datetimeFigureOut">
              <a:rPr lang="es-CO" smtClean="0"/>
              <a:t>15/04/2026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E1FCB3-0F16-59D4-6762-7932AEED9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3B5948-73B2-D2BA-8885-1C3249DD8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66B4A-B727-452D-AA60-F81671CC507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90106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36B9390-073D-22B9-4A52-0498277BED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07F81D0-A93C-9E54-FAFF-1025D1BEA6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7751AA-D27A-F3A2-7C45-BB3DE20F0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9687-9173-4540-ADE4-0026EB472590}" type="datetimeFigureOut">
              <a:rPr lang="es-CO" smtClean="0"/>
              <a:t>15/04/2026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D13321-F4B7-3A6A-01BB-94D08C1A8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D8097F-C734-CBEC-1239-ECC3E94AD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66B4A-B727-452D-AA60-F81671CC507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8007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pxhere.com/es/photo/1575311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2000"/>
            <a:lum/>
            <a:extLst>
              <a:ext uri="{837473B0-CC2E-450A-ABE3-18F120FF3D39}">
                <a1611:picAttrSrcUrl xmlns:a1611="http://schemas.microsoft.com/office/drawing/2016/11/main" r:id="rId14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0761693-B850-2FD0-0A56-4BCFDC250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FF54CB-B8AF-5BE2-D452-8D710F224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6B61EC-FD4C-C5C1-7628-0E5E92848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009687-9173-4540-ADE4-0026EB472590}" type="datetimeFigureOut">
              <a:rPr lang="es-CO" smtClean="0"/>
              <a:t>15/04/2026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85FBC5-7677-05C1-98EB-017879EB9A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A0DA5F-63F3-0106-E4E2-7012D57EDD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66B4A-B727-452D-AA60-F81671CC507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1162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651B2F81-E0D2-AD06-F253-C04BE4580AFC}"/>
              </a:ext>
            </a:extLst>
          </p:cNvPr>
          <p:cNvSpPr/>
          <p:nvPr/>
        </p:nvSpPr>
        <p:spPr>
          <a:xfrm>
            <a:off x="1242972" y="1433503"/>
            <a:ext cx="9706055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Javier Orlando Delgado Piedrahita</a:t>
            </a:r>
          </a:p>
          <a:p>
            <a:pPr algn="ctr"/>
            <a:r>
              <a:rPr lang="es-E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Diseño de Base de </a:t>
            </a:r>
            <a:r>
              <a:rPr lang="es-ES" sz="5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Datos</a:t>
            </a:r>
          </a:p>
          <a:p>
            <a:pPr algn="ctr"/>
            <a:r>
              <a:rPr lang="es-E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Desarrollo</a:t>
            </a:r>
            <a:r>
              <a:rPr lang="es-ES" sz="5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de Software</a:t>
            </a:r>
            <a:endParaRPr lang="es-E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53066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9490A3F-1D9E-F767-A7D6-9F5A889EB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097"/>
            <a:ext cx="12192000" cy="6139881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17203C7F-AF4D-7AD3-FB36-9D43B654AFBB}"/>
              </a:ext>
            </a:extLst>
          </p:cNvPr>
          <p:cNvSpPr/>
          <p:nvPr/>
        </p:nvSpPr>
        <p:spPr>
          <a:xfrm>
            <a:off x="0" y="-129826"/>
            <a:ext cx="100569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CO" sz="5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Cardinalidad y Diagrama Relacional</a:t>
            </a:r>
            <a:endParaRPr lang="es-ES" sz="54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34835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410CD1A-7B5F-A01A-D070-1B8905158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0715"/>
            <a:ext cx="12192000" cy="3896569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7D84217E-A963-1378-05DA-FDD30BBCBB5B}"/>
              </a:ext>
            </a:extLst>
          </p:cNvPr>
          <p:cNvSpPr/>
          <p:nvPr/>
        </p:nvSpPr>
        <p:spPr>
          <a:xfrm>
            <a:off x="-84295" y="125813"/>
            <a:ext cx="583198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Historias de Usuario</a:t>
            </a:r>
          </a:p>
        </p:txBody>
      </p:sp>
    </p:spTree>
    <p:extLst>
      <p:ext uri="{BB962C8B-B14F-4D97-AF65-F5344CB8AC3E}">
        <p14:creationId xmlns:p14="http://schemas.microsoft.com/office/powerpoint/2010/main" val="151483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7A399F0-D73C-D57F-A6B1-2A5742297034}"/>
              </a:ext>
            </a:extLst>
          </p:cNvPr>
          <p:cNvSpPr/>
          <p:nvPr/>
        </p:nvSpPr>
        <p:spPr>
          <a:xfrm>
            <a:off x="502718" y="184806"/>
            <a:ext cx="9318448" cy="34163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s-E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A continuación</a:t>
            </a:r>
          </a:p>
          <a:p>
            <a:r>
              <a:rPr lang="es-ES" sz="5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un paso a paso de como</a:t>
            </a:r>
          </a:p>
          <a:p>
            <a:r>
              <a:rPr lang="es-E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se insertaron las instrucciones y </a:t>
            </a:r>
          </a:p>
          <a:p>
            <a:r>
              <a:rPr lang="es-ES" sz="5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sus respectivos resultados</a:t>
            </a:r>
            <a:endParaRPr lang="es-E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20392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8053EF1-1386-EF9C-E6C5-CB8BC2C63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382726" cy="4496190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0CB7CDD8-C8E4-6A69-9E53-E1565FC48424}"/>
              </a:ext>
            </a:extLst>
          </p:cNvPr>
          <p:cNvSpPr/>
          <p:nvPr/>
        </p:nvSpPr>
        <p:spPr>
          <a:xfrm>
            <a:off x="3018503" y="3588774"/>
            <a:ext cx="2821858" cy="688258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3C747ED-5876-94B5-67F5-1C504612D1C0}"/>
              </a:ext>
            </a:extLst>
          </p:cNvPr>
          <p:cNvSpPr/>
          <p:nvPr/>
        </p:nvSpPr>
        <p:spPr>
          <a:xfrm>
            <a:off x="147484" y="3736258"/>
            <a:ext cx="2084439" cy="353962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20C7FA84-CC84-AB06-7B97-316418CC967E}"/>
              </a:ext>
            </a:extLst>
          </p:cNvPr>
          <p:cNvSpPr/>
          <p:nvPr/>
        </p:nvSpPr>
        <p:spPr>
          <a:xfrm>
            <a:off x="147484" y="19665"/>
            <a:ext cx="1956619" cy="265470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F55DB50D-9C07-E3A0-88CC-4A408F285D0E}"/>
              </a:ext>
            </a:extLst>
          </p:cNvPr>
          <p:cNvCxnSpPr>
            <a:cxnSpLocks/>
          </p:cNvCxnSpPr>
          <p:nvPr/>
        </p:nvCxnSpPr>
        <p:spPr>
          <a:xfrm flipH="1">
            <a:off x="7875638" y="1632155"/>
            <a:ext cx="149450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4251990A-818D-095F-AD0D-340319AEF136}"/>
              </a:ext>
            </a:extLst>
          </p:cNvPr>
          <p:cNvCxnSpPr>
            <a:cxnSpLocks/>
          </p:cNvCxnSpPr>
          <p:nvPr/>
        </p:nvCxnSpPr>
        <p:spPr>
          <a:xfrm flipH="1">
            <a:off x="7875638" y="1056968"/>
            <a:ext cx="149450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D1D3ED3-4450-8502-59F0-662B1EE7C2CB}"/>
              </a:ext>
            </a:extLst>
          </p:cNvPr>
          <p:cNvSpPr txBox="1"/>
          <p:nvPr/>
        </p:nvSpPr>
        <p:spPr>
          <a:xfrm>
            <a:off x="9438968" y="641469"/>
            <a:ext cx="23892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Permite verificar si una base de datos existe antes de ejecutar acciones como crearla, borrarla o usarla, evitando errores.</a:t>
            </a:r>
            <a:endParaRPr lang="es-CO" sz="12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0C82910-E202-4FD0-2621-A7233D88125B}"/>
              </a:ext>
            </a:extLst>
          </p:cNvPr>
          <p:cNvSpPr txBox="1"/>
          <p:nvPr/>
        </p:nvSpPr>
        <p:spPr>
          <a:xfrm>
            <a:off x="9438968" y="1472466"/>
            <a:ext cx="23007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Se usa en SQL Server para forzar a una base de datos a modo de usuario único, desconectando inmediatamente a otros usuarios y revirtiendo transacciones activas</a:t>
            </a:r>
            <a:endParaRPr lang="es-CO" sz="1200" dirty="0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F607D4B7-2B87-1640-8EAF-479AC4FEFB21}"/>
              </a:ext>
            </a:extLst>
          </p:cNvPr>
          <p:cNvCxnSpPr/>
          <p:nvPr/>
        </p:nvCxnSpPr>
        <p:spPr>
          <a:xfrm flipH="1" flipV="1">
            <a:off x="6096000" y="2556387"/>
            <a:ext cx="3342968" cy="145517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5CFA2242-C474-0857-8324-F112E323F963}"/>
              </a:ext>
            </a:extLst>
          </p:cNvPr>
          <p:cNvSpPr/>
          <p:nvPr/>
        </p:nvSpPr>
        <p:spPr>
          <a:xfrm>
            <a:off x="3834581" y="2072630"/>
            <a:ext cx="2172929" cy="82788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AE06B7C-8209-DFB7-C371-85715E4371F5}"/>
              </a:ext>
            </a:extLst>
          </p:cNvPr>
          <p:cNvSpPr txBox="1"/>
          <p:nvPr/>
        </p:nvSpPr>
        <p:spPr>
          <a:xfrm>
            <a:off x="9527458" y="3841077"/>
            <a:ext cx="1877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/>
              <a:t>Se crea la base datos y pasamos a usarla directamente</a:t>
            </a:r>
          </a:p>
        </p:txBody>
      </p:sp>
    </p:spTree>
    <p:extLst>
      <p:ext uri="{BB962C8B-B14F-4D97-AF65-F5344CB8AC3E}">
        <p14:creationId xmlns:p14="http://schemas.microsoft.com/office/powerpoint/2010/main" val="1227029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9" grpId="0" animBg="1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70D293C-E2BD-DB0C-F23C-39A054268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99661" cy="4099915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B4404C5-3517-A8F5-BA5C-EB619C68A5C4}"/>
              </a:ext>
            </a:extLst>
          </p:cNvPr>
          <p:cNvSpPr/>
          <p:nvPr/>
        </p:nvSpPr>
        <p:spPr>
          <a:xfrm>
            <a:off x="3421625" y="3637936"/>
            <a:ext cx="2281084" cy="530942"/>
          </a:xfrm>
          <a:prstGeom prst="round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E0DE2381-0AA7-5AD9-7E7A-A4FA88D5AB40}"/>
              </a:ext>
            </a:extLst>
          </p:cNvPr>
          <p:cNvSpPr/>
          <p:nvPr/>
        </p:nvSpPr>
        <p:spPr>
          <a:xfrm>
            <a:off x="481781" y="3313471"/>
            <a:ext cx="1750142" cy="186814"/>
          </a:xfrm>
          <a:prstGeom prst="round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6926A8C-D4D1-8680-2B17-3951FD1FBCF2}"/>
              </a:ext>
            </a:extLst>
          </p:cNvPr>
          <p:cNvSpPr/>
          <p:nvPr/>
        </p:nvSpPr>
        <p:spPr>
          <a:xfrm>
            <a:off x="216310" y="0"/>
            <a:ext cx="2143432" cy="353961"/>
          </a:xfrm>
          <a:prstGeom prst="round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32A9580E-7C27-C850-A4CF-A3A99F5A845E}"/>
              </a:ext>
            </a:extLst>
          </p:cNvPr>
          <p:cNvSpPr/>
          <p:nvPr/>
        </p:nvSpPr>
        <p:spPr>
          <a:xfrm flipH="1">
            <a:off x="6774425" y="1691148"/>
            <a:ext cx="1622322" cy="589936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A55FA73-3F29-6E88-AF41-9A555D6A8E6C}"/>
              </a:ext>
            </a:extLst>
          </p:cNvPr>
          <p:cNvSpPr txBox="1"/>
          <p:nvPr/>
        </p:nvSpPr>
        <p:spPr>
          <a:xfrm>
            <a:off x="8544232" y="1734772"/>
            <a:ext cx="3459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Creamos la tabla </a:t>
            </a:r>
            <a:r>
              <a:rPr lang="es-CO" dirty="0" err="1"/>
              <a:t>UsuarioDeportivo</a:t>
            </a:r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C6C4DAA-3C30-21BF-BF12-6BC08B95E4EB}"/>
              </a:ext>
            </a:extLst>
          </p:cNvPr>
          <p:cNvSpPr txBox="1"/>
          <p:nvPr/>
        </p:nvSpPr>
        <p:spPr>
          <a:xfrm>
            <a:off x="7881442" y="3453584"/>
            <a:ext cx="3217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En SQL garantiza que todos los valores en una columna o conjunto de columnas sean distintos entre sí, evitando duplicados en la base de datos</a:t>
            </a:r>
            <a:endParaRPr lang="es-CO" sz="1200" dirty="0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3B363E7D-F8B2-7C93-488C-F38AAD5A0D31}"/>
              </a:ext>
            </a:extLst>
          </p:cNvPr>
          <p:cNvCxnSpPr/>
          <p:nvPr/>
        </p:nvCxnSpPr>
        <p:spPr>
          <a:xfrm flipH="1" flipV="1">
            <a:off x="6229978" y="2049957"/>
            <a:ext cx="1617785" cy="1587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C32C4D47-4C51-CD4D-FE25-97697D71E072}"/>
              </a:ext>
            </a:extLst>
          </p:cNvPr>
          <p:cNvCxnSpPr/>
          <p:nvPr/>
        </p:nvCxnSpPr>
        <p:spPr>
          <a:xfrm flipH="1" flipV="1">
            <a:off x="4652387" y="2552281"/>
            <a:ext cx="2747274" cy="2873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19ED3EB-FC40-9890-A93E-787E2423A7B6}"/>
              </a:ext>
            </a:extLst>
          </p:cNvPr>
          <p:cNvSpPr txBox="1"/>
          <p:nvPr/>
        </p:nvSpPr>
        <p:spPr>
          <a:xfrm>
            <a:off x="7399661" y="4945626"/>
            <a:ext cx="32170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CONSTRAINT (restricción) en SQL es una regla aplicada a las columnas o tablas para garantizar la integridad, precisión y fiabilidad de los datos. CHECK Valida que los valores de una columna cumplan una condición específica, como un rango.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88495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DF630B9-81F4-E0DE-3ABD-EFF09BEDC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652" y="2438314"/>
            <a:ext cx="7338696" cy="198137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943644CA-98FA-390A-673E-3707D7DC8686}"/>
              </a:ext>
            </a:extLst>
          </p:cNvPr>
          <p:cNvSpPr txBox="1"/>
          <p:nvPr/>
        </p:nvSpPr>
        <p:spPr>
          <a:xfrm>
            <a:off x="1769807" y="993057"/>
            <a:ext cx="8492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Verificamos las columnas que si estén y correspondan, opcional pero muy recomendable</a:t>
            </a:r>
          </a:p>
        </p:txBody>
      </p:sp>
    </p:spTree>
    <p:extLst>
      <p:ext uri="{BB962C8B-B14F-4D97-AF65-F5344CB8AC3E}">
        <p14:creationId xmlns:p14="http://schemas.microsoft.com/office/powerpoint/2010/main" val="2855844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FDE3884-491C-990D-3FF6-BC68FB9E4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92" y="1088790"/>
            <a:ext cx="8001693" cy="304826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93A1895-EA00-7E80-B371-76913BB2D478}"/>
              </a:ext>
            </a:extLst>
          </p:cNvPr>
          <p:cNvSpPr/>
          <p:nvPr/>
        </p:nvSpPr>
        <p:spPr>
          <a:xfrm>
            <a:off x="217192" y="4304522"/>
            <a:ext cx="11249464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Nuevamente insertar tabla y datos,</a:t>
            </a:r>
          </a:p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validando las columnas y especificaciones</a:t>
            </a:r>
            <a:endParaRPr lang="es-E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34137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FC200AF-72E5-5CE3-73D8-5221DA219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34970" cy="432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710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9C6A9BB-D253-F9A1-1E46-B038F1186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910245" cy="429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361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4940FC4-D3A5-C47E-BC39-8CD153D5B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43861" cy="431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454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84BF8F1-4C7E-8A51-3532-672D685C1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74"/>
            <a:ext cx="9114310" cy="50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263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BDF2C56-ABCF-7B48-33BC-85EFCF0D1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656"/>
            <a:ext cx="8900931" cy="499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329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DD207E3-56E9-BFC9-47DB-D1AFD269F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57" y="789188"/>
            <a:ext cx="8779001" cy="508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543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BA7D948-9175-BF33-EDE8-A1C403EA8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998" y="963716"/>
            <a:ext cx="8116003" cy="493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724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F34BE15-5CB4-3CA5-4DD2-AE028E6B9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45555" cy="506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821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69FDF27-1108-4283-6C74-4F9BFE73C7CA}"/>
              </a:ext>
            </a:extLst>
          </p:cNvPr>
          <p:cNvSpPr txBox="1"/>
          <p:nvPr/>
        </p:nvSpPr>
        <p:spPr>
          <a:xfrm>
            <a:off x="7030065" y="88490"/>
            <a:ext cx="496529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/>
              <a:t>El orden que definí para los procedimientos almacenados responde a la necesidad de mantener la integridad referencial y cumplir con las restricciones únicas del modelo. En la base de datos, cada horario solo puede tener una reserva y cada reserva solo puede tener un pago. Por eso, el flujo de inserción debe ir de las tablas independientes a las dependientes (Usuario → Cancha → Horario → Reserva → Pago), y el flujo de eliminación debe ser inverso (Pago → Reserva → Horario → Cancha → Usuario). Este orden garantiza que no se generen errores de claves foráneas ni inconsistencias en los datos.”</a:t>
            </a:r>
          </a:p>
          <a:p>
            <a:r>
              <a:rPr lang="es-CO" sz="1600" dirty="0"/>
              <a:t>A continuación, se detalla la lógica que debes seguir según las fuentes:</a:t>
            </a:r>
          </a:p>
          <a:p>
            <a:endParaRPr lang="es-CO" sz="1600" dirty="0"/>
          </a:p>
          <a:p>
            <a:r>
              <a:rPr lang="es-CO" sz="1600" dirty="0"/>
              <a:t>1. Inserciones (también actualizaciones): La regla del "Padre antes que el Hijo“.</a:t>
            </a:r>
            <a:br>
              <a:rPr lang="es-CO" sz="1600" dirty="0"/>
            </a:br>
            <a:r>
              <a:rPr lang="es-CO" sz="1600" dirty="0"/>
              <a:t>2. Borrados: La regla del "Hijo antes que el Padre"</a:t>
            </a:r>
          </a:p>
          <a:p>
            <a:endParaRPr lang="es-CO" dirty="0"/>
          </a:p>
          <a:p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CAF154F-E05B-167C-6294-42252B593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6877014" cy="5702710"/>
          </a:xfrm>
          <a:prstGeom prst="rect">
            <a:avLst/>
          </a:prstGeom>
        </p:spPr>
      </p:pic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759EB9C9-50ED-3656-0D4B-83CC3E5F8D65}"/>
              </a:ext>
            </a:extLst>
          </p:cNvPr>
          <p:cNvCxnSpPr>
            <a:cxnSpLocks/>
          </p:cNvCxnSpPr>
          <p:nvPr/>
        </p:nvCxnSpPr>
        <p:spPr>
          <a:xfrm flipV="1">
            <a:off x="4906297" y="2113935"/>
            <a:ext cx="1032387" cy="3588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92F632FE-03A1-9D8C-DAEF-7F4182FEFAC9}"/>
              </a:ext>
            </a:extLst>
          </p:cNvPr>
          <p:cNvSpPr/>
          <p:nvPr/>
        </p:nvSpPr>
        <p:spPr>
          <a:xfrm>
            <a:off x="747252" y="1710813"/>
            <a:ext cx="5968180" cy="344129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B3D587D-9BF0-89F8-1CB4-70BFA61A3F85}"/>
              </a:ext>
            </a:extLst>
          </p:cNvPr>
          <p:cNvSpPr txBox="1"/>
          <p:nvPr/>
        </p:nvSpPr>
        <p:spPr>
          <a:xfrm>
            <a:off x="98323" y="6042824"/>
            <a:ext cx="8455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/>
              <a:t>Se hace el mismo procedimiento para las demás tablas “INSERT”… para efectos de tiempo y espacio colocaré solo una de INSERT, UPDATE y DELETE, con la misma tabla… cabe recordar que el orden cambia cuando se elimina</a:t>
            </a:r>
          </a:p>
        </p:txBody>
      </p:sp>
      <p:pic>
        <p:nvPicPr>
          <p:cNvPr id="1026" name="Picture 2" descr="Advertencia Vectores, Iconos, Gráficos y Fondos para Descargar Gratis">
            <a:extLst>
              <a:ext uri="{FF2B5EF4-FFF2-40B4-BE49-F238E27FC236}">
                <a16:creationId xmlns:a16="http://schemas.microsoft.com/office/drawing/2014/main" id="{B5C223CE-B628-DC29-68EC-5162D5B58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4065" y="5722375"/>
            <a:ext cx="1047135" cy="104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012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F9B5E54-72ED-2BD7-F6A2-16B54F430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82388" cy="6233700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EAAE2812-BFE7-687B-7F14-9BADE6C0C7CD}"/>
              </a:ext>
            </a:extLst>
          </p:cNvPr>
          <p:cNvSpPr/>
          <p:nvPr/>
        </p:nvSpPr>
        <p:spPr>
          <a:xfrm>
            <a:off x="117987" y="4316361"/>
            <a:ext cx="4975123" cy="216310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A58DA2A4-4406-9E80-5720-C08B608D7556}"/>
              </a:ext>
            </a:extLst>
          </p:cNvPr>
          <p:cNvSpPr/>
          <p:nvPr/>
        </p:nvSpPr>
        <p:spPr>
          <a:xfrm>
            <a:off x="943897" y="1160206"/>
            <a:ext cx="2379406" cy="875071"/>
          </a:xfrm>
          <a:prstGeom prst="ellipse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06646F3A-49D9-F7A2-900F-94B06E18C687}"/>
              </a:ext>
            </a:extLst>
          </p:cNvPr>
          <p:cNvCxnSpPr/>
          <p:nvPr/>
        </p:nvCxnSpPr>
        <p:spPr>
          <a:xfrm flipH="1" flipV="1">
            <a:off x="3185652" y="1887794"/>
            <a:ext cx="1553496" cy="2497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C09143CB-8F9E-031F-B25F-9AF1EF73BA46}"/>
              </a:ext>
            </a:extLst>
          </p:cNvPr>
          <p:cNvSpPr txBox="1"/>
          <p:nvPr/>
        </p:nvSpPr>
        <p:spPr>
          <a:xfrm>
            <a:off x="6980903" y="314631"/>
            <a:ext cx="48964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IF OBJECT_ID(‘</a:t>
            </a:r>
            <a:r>
              <a:rPr lang="en-US" dirty="0" err="1"/>
              <a:t>pa_ActualizarUsiario</a:t>
            </a:r>
            <a:r>
              <a:rPr lang="en-US" dirty="0"/>
              <a:t>') IS NOT NULL </a:t>
            </a:r>
          </a:p>
          <a:p>
            <a:r>
              <a:rPr lang="es-CO" dirty="0"/>
              <a:t>    DROP PROC </a:t>
            </a:r>
            <a:r>
              <a:rPr lang="en-US" dirty="0" err="1"/>
              <a:t>pa_ActualizarUsiario</a:t>
            </a:r>
            <a:r>
              <a:rPr lang="es-CO" dirty="0"/>
              <a:t>;</a:t>
            </a:r>
          </a:p>
          <a:p>
            <a:r>
              <a:rPr lang="es-CO" dirty="0"/>
              <a:t>GO</a:t>
            </a:r>
          </a:p>
          <a:p>
            <a:endParaRPr lang="es-CO" dirty="0"/>
          </a:p>
          <a:p>
            <a:r>
              <a:rPr lang="es-CO" dirty="0"/>
              <a:t>Aunque es una buena práctica usar esta consulta, en este caso como se crea por primera vez, lo </a:t>
            </a:r>
            <a:r>
              <a:rPr lang="es-CO" dirty="0" err="1"/>
              <a:t>recomandable</a:t>
            </a:r>
            <a:r>
              <a:rPr lang="es-CO" dirty="0"/>
              <a:t> es hacerlo</a:t>
            </a:r>
          </a:p>
        </p:txBody>
      </p:sp>
    </p:spTree>
    <p:extLst>
      <p:ext uri="{BB962C8B-B14F-4D97-AF65-F5344CB8AC3E}">
        <p14:creationId xmlns:p14="http://schemas.microsoft.com/office/powerpoint/2010/main" val="872821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F572CD6-0EA5-D4CD-5E69-B4F01FECC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34" y="0"/>
            <a:ext cx="5547841" cy="4747671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09219CEB-AC5E-63CC-C911-9E37B6BA3F4A}"/>
              </a:ext>
            </a:extLst>
          </p:cNvPr>
          <p:cNvSpPr/>
          <p:nvPr/>
        </p:nvSpPr>
        <p:spPr>
          <a:xfrm>
            <a:off x="294968" y="2851355"/>
            <a:ext cx="855406" cy="481780"/>
          </a:xfrm>
          <a:prstGeom prst="ellipse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544EBA5D-9556-4CB4-D8B3-EF5153C3BC69}"/>
              </a:ext>
            </a:extLst>
          </p:cNvPr>
          <p:cNvCxnSpPr/>
          <p:nvPr/>
        </p:nvCxnSpPr>
        <p:spPr>
          <a:xfrm>
            <a:off x="1288026" y="3106994"/>
            <a:ext cx="49751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C12EBA91-22FA-1215-48F8-393CB51C577D}"/>
              </a:ext>
            </a:extLst>
          </p:cNvPr>
          <p:cNvSpPr txBox="1"/>
          <p:nvPr/>
        </p:nvSpPr>
        <p:spPr>
          <a:xfrm>
            <a:off x="6400800" y="2383667"/>
            <a:ext cx="38640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Aparece el id 3 eliminado… Nuevamente recordar que básicamente las instrucciones son muy similares y el proceso en las tablas es muy intuitivo.</a:t>
            </a:r>
          </a:p>
        </p:txBody>
      </p:sp>
    </p:spTree>
    <p:extLst>
      <p:ext uri="{BB962C8B-B14F-4D97-AF65-F5344CB8AC3E}">
        <p14:creationId xmlns:p14="http://schemas.microsoft.com/office/powerpoint/2010/main" val="2267178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8003E65-D3B1-FDF2-4407-F2D5E62BBCDF}"/>
              </a:ext>
            </a:extLst>
          </p:cNvPr>
          <p:cNvSpPr txBox="1"/>
          <p:nvPr/>
        </p:nvSpPr>
        <p:spPr>
          <a:xfrm>
            <a:off x="8613058" y="412955"/>
            <a:ext cx="288085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Definimos la tabla principal (Reserva).</a:t>
            </a:r>
          </a:p>
          <a:p>
            <a:r>
              <a:rPr lang="es-MX" dirty="0"/>
              <a:t>Unimos con </a:t>
            </a:r>
            <a:r>
              <a:rPr lang="es-MX" dirty="0" err="1"/>
              <a:t>UsuarioDeportivo</a:t>
            </a:r>
            <a:r>
              <a:rPr lang="es-MX" dirty="0"/>
              <a:t> usando la llave foránea </a:t>
            </a:r>
            <a:r>
              <a:rPr lang="es-MX" dirty="0" err="1"/>
              <a:t>idUsuario</a:t>
            </a:r>
            <a:r>
              <a:rPr lang="es-MX" dirty="0"/>
              <a:t>.</a:t>
            </a:r>
          </a:p>
          <a:p>
            <a:r>
              <a:rPr lang="es-MX" dirty="0"/>
              <a:t>Unimos con Horario para obtener la fecha y el id de la cancha.</a:t>
            </a:r>
          </a:p>
          <a:p>
            <a:r>
              <a:rPr lang="es-MX" dirty="0"/>
              <a:t>Unimos Horario con Cancha para obtener el nombre del espacio (Cancha y bloque)</a:t>
            </a: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DA224CE-3687-440F-41C5-D2179BD83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31"/>
            <a:ext cx="7780694" cy="53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474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E63BE9F-1C4A-9291-B026-0373964E6BA7}"/>
              </a:ext>
            </a:extLst>
          </p:cNvPr>
          <p:cNvSpPr txBox="1"/>
          <p:nvPr/>
        </p:nvSpPr>
        <p:spPr>
          <a:xfrm>
            <a:off x="6912077" y="521110"/>
            <a:ext cx="5181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- Seleccionamos el nombre y aplicamos la función de conteo</a:t>
            </a:r>
          </a:p>
          <a:p>
            <a:r>
              <a:rPr lang="es-MX" dirty="0"/>
              <a:t>- Unimos con la tabla de movimientos (Reserva)</a:t>
            </a:r>
          </a:p>
          <a:p>
            <a:r>
              <a:rPr lang="es-MX" dirty="0"/>
              <a:t>- Filtramos antes de agrupar para ver solo las activas</a:t>
            </a:r>
          </a:p>
          <a:p>
            <a:r>
              <a:rPr lang="es-MX" dirty="0"/>
              <a:t>- Agrupamos por el nombre del usuario para que el conteo sea individual</a:t>
            </a:r>
          </a:p>
          <a:p>
            <a:r>
              <a:rPr lang="es-MX" dirty="0"/>
              <a:t>- Aplicamos HAVING para filtrar el resultado del conteo (agregación)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44ECC6F-D201-52D2-BAA5-BB5C96BBD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22" y="132557"/>
            <a:ext cx="6340389" cy="411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330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5602D79-C8F3-A874-0FB4-430042EB7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245" y="0"/>
            <a:ext cx="9360310" cy="6886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68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67E7850-DBAC-BB12-0A43-C0869BD8B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03" y="55199"/>
            <a:ext cx="10835149" cy="662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02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68F0B52-02BC-68BC-2091-1757E1156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091448" cy="534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019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F00C7F8-4C34-E0EB-D50A-532592EC8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312"/>
            <a:ext cx="7292972" cy="256816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D2FD848-8986-05D6-23EC-8564FDA07AE9}"/>
              </a:ext>
            </a:extLst>
          </p:cNvPr>
          <p:cNvSpPr txBox="1"/>
          <p:nvPr/>
        </p:nvSpPr>
        <p:spPr>
          <a:xfrm>
            <a:off x="8072283" y="285135"/>
            <a:ext cx="19271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Acá intentamos con un caso de éxito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1F61D37-F1DB-6801-B77E-4E6247E20DC7}"/>
              </a:ext>
            </a:extLst>
          </p:cNvPr>
          <p:cNvSpPr txBox="1"/>
          <p:nvPr/>
        </p:nvSpPr>
        <p:spPr>
          <a:xfrm>
            <a:off x="117987" y="4581833"/>
            <a:ext cx="3692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Acá intentamos con un intento fallido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49E4DA6-7476-000A-4229-E76DC9E24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978" y="3705187"/>
            <a:ext cx="7140559" cy="249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38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275EE9F-DE78-FEF9-3E03-297004300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278" y="63119"/>
            <a:ext cx="8101780" cy="674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96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0D86A8A-E59D-445A-7FA8-BB7BC8ACF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871" y="0"/>
            <a:ext cx="9488129" cy="6699224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B2F213D-69A6-9E11-0A59-2F15D0C8C962}"/>
              </a:ext>
            </a:extLst>
          </p:cNvPr>
          <p:cNvSpPr txBox="1"/>
          <p:nvPr/>
        </p:nvSpPr>
        <p:spPr>
          <a:xfrm>
            <a:off x="0" y="98323"/>
            <a:ext cx="22712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/>
              <a:t>Esta función calcula cuántas reservas se han registrado para un deporte </a:t>
            </a:r>
          </a:p>
          <a:p>
            <a:r>
              <a:rPr lang="es-MX"/>
              <a:t>específico. Para lograrlo, une tres tablas: Reserva (movimiento), </a:t>
            </a:r>
          </a:p>
          <a:p>
            <a:r>
              <a:rPr lang="es-MX"/>
              <a:t>Horario (puente) y Cancha (donde está el tipo de deporte). </a:t>
            </a:r>
          </a:p>
          <a:p>
            <a:r>
              <a:rPr lang="es-CO"/>
              <a:t>Se utiliza para análisis estadístico de uso de las instalaciones. 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86299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4EB3723-63B9-6CBE-51D6-85D61B8FC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19390" cy="34750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DB9E2E7-B807-19BD-3FC6-8018F89C1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686" y="3253428"/>
            <a:ext cx="8009314" cy="360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720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F46EA7A-290B-3CDE-253B-68D5DB0BC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9" y="0"/>
            <a:ext cx="8283658" cy="548687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5C83B2F-3396-02ED-A250-E873B33271A8}"/>
              </a:ext>
            </a:extLst>
          </p:cNvPr>
          <p:cNvSpPr txBox="1"/>
          <p:nvPr/>
        </p:nvSpPr>
        <p:spPr>
          <a:xfrm>
            <a:off x="9385160" y="1482942"/>
            <a:ext cx="29039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Hemos creado una tabla sencilla, la cual es como una forma de monitorea</a:t>
            </a:r>
          </a:p>
          <a:p>
            <a:r>
              <a:rPr lang="es-CO" dirty="0"/>
              <a:t>lo que hace el </a:t>
            </a:r>
            <a:r>
              <a:rPr lang="es-CO" dirty="0" err="1"/>
              <a:t>trigger</a:t>
            </a:r>
            <a:r>
              <a:rPr lang="es-CO" dirty="0"/>
              <a:t>… veamos…</a:t>
            </a:r>
          </a:p>
        </p:txBody>
      </p:sp>
    </p:spTree>
    <p:extLst>
      <p:ext uri="{BB962C8B-B14F-4D97-AF65-F5344CB8AC3E}">
        <p14:creationId xmlns:p14="http://schemas.microsoft.com/office/powerpoint/2010/main" val="359581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9448BC6-E810-11C8-E044-EF778B501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0559" cy="529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36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29CF844-0F8A-270E-3443-9E30A8469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589331" cy="649280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9215559-65BC-7078-BEC2-DC14EC521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3628" y="519906"/>
            <a:ext cx="3444538" cy="509060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7F4B497-7743-0EEF-EBFA-BB85658FADA8}"/>
              </a:ext>
            </a:extLst>
          </p:cNvPr>
          <p:cNvSpPr txBox="1"/>
          <p:nvPr/>
        </p:nvSpPr>
        <p:spPr>
          <a:xfrm>
            <a:off x="8416413" y="924232"/>
            <a:ext cx="31168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Acá podemos visualizar el árbol y los lugares o ramas en las que se encuentran nuestras funciones y </a:t>
            </a:r>
            <a:r>
              <a:rPr lang="es-CO" dirty="0" err="1"/>
              <a:t>triggers</a:t>
            </a:r>
            <a:r>
              <a:rPr lang="es-C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7120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A0D048E-513A-CB95-4241-908B0640E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986" y="609418"/>
            <a:ext cx="9578870" cy="6248582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7219EF55-5BDB-3BD2-C997-AE3CC2F1B330}"/>
              </a:ext>
            </a:extLst>
          </p:cNvPr>
          <p:cNvSpPr/>
          <p:nvPr/>
        </p:nvSpPr>
        <p:spPr>
          <a:xfrm>
            <a:off x="1875711" y="-159323"/>
            <a:ext cx="89150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Diagrama relacional SQL server</a:t>
            </a:r>
          </a:p>
        </p:txBody>
      </p:sp>
    </p:spTree>
    <p:extLst>
      <p:ext uri="{BB962C8B-B14F-4D97-AF65-F5344CB8AC3E}">
        <p14:creationId xmlns:p14="http://schemas.microsoft.com/office/powerpoint/2010/main" val="3417273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1769</TotalTime>
  <Words>668</Words>
  <Application>Microsoft Office PowerPoint</Application>
  <PresentationFormat>Panorámica</PresentationFormat>
  <Paragraphs>48</Paragraphs>
  <Slides>32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Orlando Delgado Piedrahita</dc:creator>
  <cp:lastModifiedBy>Javier Orlando Delgado Piedrahita</cp:lastModifiedBy>
  <cp:revision>4</cp:revision>
  <dcterms:created xsi:type="dcterms:W3CDTF">2026-04-13T06:46:36Z</dcterms:created>
  <dcterms:modified xsi:type="dcterms:W3CDTF">2026-04-15T21:40:19Z</dcterms:modified>
</cp:coreProperties>
</file>